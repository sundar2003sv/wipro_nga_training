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476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MANAGEMENT PLATFORM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16238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03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Core MVC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16238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103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103120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16238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103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78608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16238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78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8.0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578608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16238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578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578608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16238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578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Stories: US1 – US13  |  Submitted by: SUNDARAVELA 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06 June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70916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Enterprise Application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employee records and leave requests securely across a 6-project Clean Architecture solution.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20624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2296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961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17043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Core MVC + EF Core + MS SQL Server + C# 8.0 + JWT Bearer + ASP.NET Core Web API.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240280"/>
            <a:ext cx="420624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24028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134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User Stories Delivered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58775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domain modelling, DB design, RESTful API security, cloud deployment, and AI modernization.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420624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24028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134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Practices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58775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principles, ADO.NET + EF Core, server/client validation, CORS, HSTS, ProblemDetails (RFC 7807).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657600"/>
            <a:ext cx="420624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65760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307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Design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00507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exception logging, role-based access control, database triggers for AuditLogs table.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20624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65760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307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 Architecture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00507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 + GitHub Actions CI/CD + Azure App Services deployment strategy.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859536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employee data management with department, role, and joining date tracking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17904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17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5544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leave request workflow with status tracking: Pending / Approved / Rejected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066544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12848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249424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— Admins control sensitive operations; Employees access only their own data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761488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07792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9443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RESTful APIs enabling future mobile or third-party integrations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456432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602736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602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63931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design with structured exception logging and clean separation of concerns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151376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29768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334256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ready for cloud deployment on Azure App Services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— 6-PROJECT CLEAN ARCHITECTURE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566928"/>
          </a:xfrm>
          <a:prstGeom prst="rect">
            <a:avLst/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68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560320" y="786384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Swagger UI / External Clients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34840" y="1298448"/>
            <a:ext cx="0" cy="640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53312"/>
            <a:ext cx="8595360" cy="566928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API LAYER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60320" y="140817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HRManagement.Web (MVC + Razor)  |  HRManagement.API (REST + JWT Middleware)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1920240"/>
            <a:ext cx="0" cy="640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75104"/>
            <a:ext cx="8595360" cy="56692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116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60320" y="202996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HRManagement.Application — EmployeeService, LeaveService, AuthService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2542032"/>
            <a:ext cx="0" cy="640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596896"/>
            <a:ext cx="8595360" cy="566928"/>
          </a:xfrm>
          <a:prstGeom prst="rect">
            <a:avLst/>
          </a:prstGeom>
          <a:solidFill>
            <a:srgbClr val="FEF9C3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334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 (CORE)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0" y="265176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HRManagement.Core — Entities, Interfaces, DTOs, Custom Exceptions  ★ Zero Dependencies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34840" y="3163824"/>
            <a:ext cx="0" cy="640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218688"/>
            <a:ext cx="8595360" cy="566928"/>
          </a:xfrm>
          <a:prstGeom prst="rect">
            <a:avLst/>
          </a:prstGeom>
          <a:solidFill>
            <a:srgbClr val="FFE4E6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552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60320" y="3273552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HRManagement.Infrastructure — EF Core DbContext, Repositories, ADO.NET Implementation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4840" y="3785616"/>
            <a:ext cx="0" cy="640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840480"/>
            <a:ext cx="8595360" cy="566928"/>
          </a:xfrm>
          <a:prstGeom prst="rect">
            <a:avLst/>
          </a:prstGeom>
          <a:solidFill>
            <a:srgbClr val="F1F5F9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77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0" y="3895344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 — Employees, Leaves, Users, AuditLogs + Triggers + Indexes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4805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Dependency Rule: Inner layers have zero knowledge of outer layers — fully testable &amp; replaceable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ENTITY RELATIONSHIP DIAGRAM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2377440" cy="256032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777240"/>
            <a:ext cx="23774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7772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11704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UserId (PK)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5727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197510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23774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PasswordHash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27797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777240"/>
            <a:ext cx="2377440" cy="29718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777240"/>
            <a:ext cx="2377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7772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11704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EmployeeId (PK)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15727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197510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3774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7797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JoiningDate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9400" y="777240"/>
            <a:ext cx="2377440" cy="2971800"/>
          </a:xfrm>
          <a:prstGeom prst="rect">
            <a:avLst/>
          </a:prstGeom>
          <a:solidFill>
            <a:srgbClr val="FFE4E6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777240"/>
            <a:ext cx="2377440" cy="3474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7772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11704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LeaveId (PK)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20840" y="15727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EmployeeId (FK)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197510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StartDate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20840" y="23774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EndDate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27797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20840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3931920"/>
            <a:ext cx="2377440" cy="822960"/>
          </a:xfrm>
          <a:prstGeom prst="rect">
            <a:avLst/>
          </a:prstGeom>
          <a:solidFill>
            <a:srgbClr val="FEF9C3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0" y="3931920"/>
            <a:ext cx="2377440" cy="34747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9319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4720" y="4297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LogId (PK) | TableName | Action | Timestamp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60720" y="1828800"/>
            <a:ext cx="8686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57276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3749040"/>
            <a:ext cx="0" cy="182880"/>
          </a:xfrm>
          <a:prstGeom prst="line">
            <a:avLst/>
          </a:prstGeom>
          <a:noFill/>
          <a:ln w="19050">
            <a:solidFill>
              <a:srgbClr val="CA8A0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477316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→ AuditLogs on INSERT/UPDATE/DELETE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9103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to 3NF  |  FK: Leaves.EmployeeId → Employees.EmployeeId  |  Referential Integrity enforced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 – US2: C# 8.0 OOP &amp; SOLID PRINCIPLES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of OOP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expose only required data; properties use auto-properties with controlled access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581912"/>
            <a:ext cx="4023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0934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7922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EmployeeNotFoundException &amp; InvalidLeaveException inherit System.Exception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112264"/>
            <a:ext cx="4023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3969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3225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IEmployeeRepository implemented by both EF Core &amp; ADO.NET repos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642616"/>
            <a:ext cx="40233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700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8529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decouple business logic from data access technology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74980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1051560"/>
            <a:ext cx="4297680" cy="420624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0789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SRP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10972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EmployeeService → business logic only; Repo → data only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1508760"/>
            <a:ext cx="4297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5361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OCP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52160" y="15544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EF Core ↔ ADO.NET without changing service layer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1965960"/>
            <a:ext cx="4297680" cy="420624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9933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LSP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52160" y="20116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&amp; ADO repos are fully interchangeable via IEmployeeRepository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2423160"/>
            <a:ext cx="4297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4505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ISP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2160" y="24688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IEmployeeRepository, ILeaveRepository, IUserRepository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2880360"/>
            <a:ext cx="4297680" cy="420624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9077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DIP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29260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depend on injected interfaces, not concretions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491992"/>
            <a:ext cx="8595360" cy="114300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6565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Unit Testing — xUnit + Moq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3821515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EmployeeServiceTests: GetEmployee, AddEmployee, DeleteEmployee via mocked IEmployeeRepository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LeaveServiceTests: ApplyLeave with valid &amp; invalid date ranges — verifies InvalidLeaveException is thrown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Result: Rebuild All — 6 succeeded, 0 failed, 0 skipped  ✔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US3 – US4: DATABASE DESIGN &amp; DATA ACCESS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 — 3NF Normalized Schema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EmployeeId (PK), FirstName, LastName, Email, Department, JoiningDate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581912"/>
            <a:ext cx="41148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002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LeaveId (PK), EmployeeId (FK), StartDate, EndDate, Reason, Status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084832"/>
            <a:ext cx="41148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031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2860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(PK), Username, Email, PasswordHash, Role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587752"/>
            <a:ext cx="41148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060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7889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Trigger-populated: INSERT / UPDATE / DELETE events from Employees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3440" y="7498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Patterns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078992"/>
            <a:ext cx="4206240" cy="13258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15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— Code First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137160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HRDbContext with DbSet&lt;Employee/Leave/User/AuditLog&gt;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Migrations via EF Core CLI → full schema with FK &amp; indexes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Navigation props: Employee.Leaves (ICollection&lt;Leave&gt;)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514600"/>
            <a:ext cx="4206240" cy="1325880"/>
          </a:xfrm>
          <a:prstGeom prst="rect">
            <a:avLst/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5511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ADO.NET — EmployeeAdoRepository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807208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SqlConnection + SqlCommand + SqlDataReader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Parameterized queries prevent SQL Injection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mapping from DataReader → Employee entity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US5 – US7: WEB APPLICATION (MVC + RAZOR + AJAX)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4297680" cy="18288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49808"/>
            <a:ext cx="4297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152144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EmployeeController with full CRUD (Index, Create, Edit, Delete)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591056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 route: {controller=Employee}/{action=Index}/{id?}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Views rendered in Views/Employee/ — landing page = employee list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749808"/>
            <a:ext cx="4297680" cy="18288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749808"/>
            <a:ext cx="429768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749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Pages — Dashboard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152144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Self-contained Dashboard in Pages/Dashboard/Index.cshtml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591056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Code-behind PageModel pattern for non-CRUD pages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02996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Registered via MapRazorPages() in Program.cs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715768"/>
            <a:ext cx="4297680" cy="1828800"/>
          </a:xfrm>
          <a:prstGeom prst="rect">
            <a:avLst/>
          </a:prstGeom>
          <a:solidFill>
            <a:srgbClr val="FEF9C3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715768"/>
            <a:ext cx="4297680" cy="34747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157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(Dual Layer)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3118104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Server-side: DataAnnotations ([Required], [EmailAddress], [StringLength])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3557016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Client-side: jQuery Unobtrusive Validation — instant feedback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99592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layers active simultaneously for UX + security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715768"/>
            <a:ext cx="4297680" cy="1828800"/>
          </a:xfrm>
          <a:prstGeom prst="rect">
            <a:avLst/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715768"/>
            <a:ext cx="4297680" cy="3474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7157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Integration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118104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Fetch API used in Dashboard + Employee views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557016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Consumes REST endpoints without full page reload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99592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Connects MVC web layer to API layer within same solution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US8: RESTful API SURFACE &amp; JWT AUTHENTICATION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Groups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0789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— issues JWT token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581912"/>
            <a:ext cx="411480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0934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60934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GET/POST/PUT/DELETE /api/Employee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7922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Role-protected (Admin)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112264"/>
            <a:ext cx="4114800" cy="475488"/>
          </a:xfrm>
          <a:prstGeom prst="rect">
            <a:avLst/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3969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213969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/api/Leave, POST /api/Leave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3225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Role-protected (Admin/Manager)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642616"/>
            <a:ext cx="4114800" cy="475488"/>
          </a:xfrm>
          <a:prstGeom prst="rect">
            <a:avLst/>
          </a:prstGeom>
          <a:solidFill>
            <a:srgbClr val="FEF9C3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7004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26700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/api/Analytics/employee-count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28529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7498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Flow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051560"/>
            <a:ext cx="4206240" cy="20574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Client POSTs credentials to /api/Auth/login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14081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AuthService validates user from Users table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1719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Token built with claims: Name, Email, Role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0299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Signed with HMAC-SHA256 (Jwt:Key in appsettings)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23408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Token returned — client stores &amp; sends in Authorization: Bearer header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651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All protected endpoints validate issuer, audience, lifetime &amp; key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246120"/>
            <a:ext cx="859536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291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Conventions: POST → 201 Created  |  PUT/DELETE → 204 No Content  |  Missing resource → 404 + ProblemDetails  |  Unauthorized → 401/403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US9: ROLE-BASED ACCESS CONTROL &amp; SECURE CODING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Matrix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2745" y="1168908"/>
            <a:ext cx="1803862" cy="2026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2745" y="1168908"/>
            <a:ext cx="1803862" cy="202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61065" y="1168908"/>
            <a:ext cx="640080" cy="2026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61065" y="1168908"/>
            <a:ext cx="640080" cy="202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85905" y="1168908"/>
            <a:ext cx="640080" cy="2026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13614" y="1173022"/>
            <a:ext cx="712371" cy="202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2081" y="1168908"/>
            <a:ext cx="640080" cy="2026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005" y="1168908"/>
            <a:ext cx="746615" cy="202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2745" y="1492300"/>
            <a:ext cx="1803862" cy="208483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745" y="1492300"/>
            <a:ext cx="1803862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/api/Employee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61065" y="1492300"/>
            <a:ext cx="640080" cy="20848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61065" y="1492300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200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85905" y="1492300"/>
            <a:ext cx="640080" cy="20848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85905" y="1492300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200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2081" y="1492300"/>
            <a:ext cx="640080" cy="208483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332081" y="1492300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403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2745" y="1839772"/>
            <a:ext cx="1803862" cy="2084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2745" y="1839772"/>
            <a:ext cx="1803862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/api/Employee/{id}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61065" y="1839772"/>
            <a:ext cx="640080" cy="20848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61065" y="1839772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200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85905" y="1839772"/>
            <a:ext cx="640080" cy="208483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85905" y="1839772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403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2081" y="1839772"/>
            <a:ext cx="640080" cy="20848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2081" y="1839772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200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2745" y="2187244"/>
            <a:ext cx="1803862" cy="208483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2745" y="2187244"/>
            <a:ext cx="1803862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/api/Employee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61065" y="2187244"/>
            <a:ext cx="640080" cy="20848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61065" y="2187244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201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85905" y="2187244"/>
            <a:ext cx="640080" cy="208483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85905" y="2187244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403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32081" y="2187244"/>
            <a:ext cx="640080" cy="208483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2081" y="2187244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403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2745" y="2534716"/>
            <a:ext cx="1803862" cy="2084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2745" y="2534716"/>
            <a:ext cx="1803862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/api/Employee/{id}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061065" y="2534716"/>
            <a:ext cx="640080" cy="20848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61065" y="2534716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204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685905" y="2534716"/>
            <a:ext cx="640080" cy="208483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85905" y="2534716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403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32081" y="2534716"/>
            <a:ext cx="640080" cy="208483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32081" y="2534716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403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62745" y="2882188"/>
            <a:ext cx="1803862" cy="208483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2745" y="2882188"/>
            <a:ext cx="1803862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/api/Employee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061065" y="2882188"/>
            <a:ext cx="640080" cy="20848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61065" y="2882188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204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85905" y="2882188"/>
            <a:ext cx="640080" cy="208483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85905" y="2882188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403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332081" y="2882188"/>
            <a:ext cx="640080" cy="208483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32081" y="2882188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403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62745" y="3229660"/>
            <a:ext cx="1803862" cy="2084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2745" y="3229660"/>
            <a:ext cx="1803862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/api/Leave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061065" y="3229660"/>
            <a:ext cx="640080" cy="20848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61065" y="3229660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201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685905" y="3229660"/>
            <a:ext cx="640080" cy="20848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85905" y="3229660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201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332081" y="3229660"/>
            <a:ext cx="640080" cy="20848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32081" y="3229660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201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62745" y="3577132"/>
            <a:ext cx="1803862" cy="208483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62745" y="3577132"/>
            <a:ext cx="1803862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/api/Leave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061065" y="3577132"/>
            <a:ext cx="640080" cy="20848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61065" y="3577132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200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685905" y="3577132"/>
            <a:ext cx="640080" cy="20848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85905" y="3577132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200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332081" y="3577132"/>
            <a:ext cx="640080" cy="208483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32081" y="3577132"/>
            <a:ext cx="64008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403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474464" y="7574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 Practices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61568" y="4116324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61568" y="4565904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4928616" y="4196588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93" name="Text 10"/>
          <p:cNvSpPr/>
          <p:nvPr/>
        </p:nvSpPr>
        <p:spPr>
          <a:xfrm>
            <a:off x="5023104" y="11506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</p:txBody>
      </p:sp>
      <p:sp>
        <p:nvSpPr>
          <p:cNvPr id="94" name="Text 34"/>
          <p:cNvSpPr/>
          <p:nvPr/>
        </p:nvSpPr>
        <p:spPr>
          <a:xfrm>
            <a:off x="5023104" y="216560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403</a:t>
            </a:r>
            <a:endParaRPr lang="en-US" sz="1100" dirty="0"/>
          </a:p>
        </p:txBody>
      </p:sp>
      <p:sp>
        <p:nvSpPr>
          <p:cNvPr id="95" name="Shape 41"/>
          <p:cNvSpPr/>
          <p:nvPr/>
        </p:nvSpPr>
        <p:spPr>
          <a:xfrm>
            <a:off x="5023104" y="2513076"/>
            <a:ext cx="1005840" cy="329184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42"/>
          <p:cNvSpPr/>
          <p:nvPr/>
        </p:nvSpPr>
        <p:spPr>
          <a:xfrm>
            <a:off x="5023104" y="251307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403</a:t>
            </a:r>
            <a:endParaRPr lang="en-US" sz="1100" dirty="0"/>
          </a:p>
        </p:txBody>
      </p:sp>
      <p:sp>
        <p:nvSpPr>
          <p:cNvPr id="97" name="Text 66"/>
          <p:cNvSpPr/>
          <p:nvPr/>
        </p:nvSpPr>
        <p:spPr>
          <a:xfrm>
            <a:off x="5023104" y="355549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403</a:t>
            </a:r>
            <a:endParaRPr lang="en-US" sz="1100" dirty="0"/>
          </a:p>
        </p:txBody>
      </p:sp>
      <p:sp>
        <p:nvSpPr>
          <p:cNvPr id="98" name="Shape 68"/>
          <p:cNvSpPr/>
          <p:nvPr/>
        </p:nvSpPr>
        <p:spPr>
          <a:xfrm>
            <a:off x="4474464" y="1141476"/>
            <a:ext cx="4297680" cy="402336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9" name="Shape 69"/>
          <p:cNvSpPr/>
          <p:nvPr/>
        </p:nvSpPr>
        <p:spPr>
          <a:xfrm>
            <a:off x="4474464" y="1150620"/>
            <a:ext cx="54864" cy="40233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0" name="Text 70"/>
          <p:cNvSpPr/>
          <p:nvPr/>
        </p:nvSpPr>
        <p:spPr>
          <a:xfrm>
            <a:off x="4584192" y="1178052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— WithOrigins() restricts to known origins only</a:t>
            </a:r>
            <a:endParaRPr lang="en-US" sz="950" dirty="0"/>
          </a:p>
        </p:txBody>
      </p:sp>
      <p:sp>
        <p:nvSpPr>
          <p:cNvPr id="101" name="Shape 71"/>
          <p:cNvSpPr/>
          <p:nvPr/>
        </p:nvSpPr>
        <p:spPr>
          <a:xfrm>
            <a:off x="4474464" y="1607820"/>
            <a:ext cx="4297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2" name="Shape 72"/>
          <p:cNvSpPr/>
          <p:nvPr/>
        </p:nvSpPr>
        <p:spPr>
          <a:xfrm>
            <a:off x="4474464" y="1607820"/>
            <a:ext cx="54864" cy="40233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3" name="Text 73"/>
          <p:cNvSpPr/>
          <p:nvPr/>
        </p:nvSpPr>
        <p:spPr>
          <a:xfrm>
            <a:off x="4584192" y="1635252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Redirection — app.UseHttpsRedirection()</a:t>
            </a:r>
            <a:endParaRPr lang="en-US" sz="950" dirty="0"/>
          </a:p>
        </p:txBody>
      </p:sp>
      <p:sp>
        <p:nvSpPr>
          <p:cNvPr id="104" name="Shape 74"/>
          <p:cNvSpPr/>
          <p:nvPr/>
        </p:nvSpPr>
        <p:spPr>
          <a:xfrm>
            <a:off x="4474464" y="2065020"/>
            <a:ext cx="4297680" cy="402336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5" name="Shape 75"/>
          <p:cNvSpPr/>
          <p:nvPr/>
        </p:nvSpPr>
        <p:spPr>
          <a:xfrm>
            <a:off x="4474464" y="2065020"/>
            <a:ext cx="54864" cy="40233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6" name="Text 76"/>
          <p:cNvSpPr/>
          <p:nvPr/>
        </p:nvSpPr>
        <p:spPr>
          <a:xfrm>
            <a:off x="4584192" y="2092452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 — app.UseHsts() enforced in production</a:t>
            </a:r>
            <a:endParaRPr lang="en-US" sz="950" dirty="0"/>
          </a:p>
        </p:txBody>
      </p:sp>
      <p:sp>
        <p:nvSpPr>
          <p:cNvPr id="107" name="Shape 77"/>
          <p:cNvSpPr/>
          <p:nvPr/>
        </p:nvSpPr>
        <p:spPr>
          <a:xfrm>
            <a:off x="4474464" y="2522220"/>
            <a:ext cx="4297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8" name="Shape 78"/>
          <p:cNvSpPr/>
          <p:nvPr/>
        </p:nvSpPr>
        <p:spPr>
          <a:xfrm>
            <a:off x="4474464" y="2522220"/>
            <a:ext cx="54864" cy="40233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9" name="Text 79"/>
          <p:cNvSpPr/>
          <p:nvPr/>
        </p:nvSpPr>
        <p:spPr>
          <a:xfrm>
            <a:off x="4584192" y="2549652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X-Content-Type-Options: nosniff (MIME sniffing prevention)</a:t>
            </a:r>
            <a:endParaRPr lang="en-US" sz="950" dirty="0"/>
          </a:p>
        </p:txBody>
      </p:sp>
      <p:sp>
        <p:nvSpPr>
          <p:cNvPr id="110" name="Shape 80"/>
          <p:cNvSpPr/>
          <p:nvPr/>
        </p:nvSpPr>
        <p:spPr>
          <a:xfrm>
            <a:off x="4474464" y="2979420"/>
            <a:ext cx="4297680" cy="402336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1" name="Shape 81"/>
          <p:cNvSpPr/>
          <p:nvPr/>
        </p:nvSpPr>
        <p:spPr>
          <a:xfrm>
            <a:off x="4474464" y="2979420"/>
            <a:ext cx="54864" cy="40233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2" name="Text 82"/>
          <p:cNvSpPr/>
          <p:nvPr/>
        </p:nvSpPr>
        <p:spPr>
          <a:xfrm>
            <a:off x="4584192" y="3006852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X-Frame-Options: DENY (clickjacking prevention)</a:t>
            </a:r>
            <a:endParaRPr lang="en-US" sz="950" dirty="0"/>
          </a:p>
        </p:txBody>
      </p:sp>
      <p:sp>
        <p:nvSpPr>
          <p:cNvPr id="113" name="Shape 83"/>
          <p:cNvSpPr/>
          <p:nvPr/>
        </p:nvSpPr>
        <p:spPr>
          <a:xfrm>
            <a:off x="4474464" y="3436620"/>
            <a:ext cx="4297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4" name="Shape 84"/>
          <p:cNvSpPr/>
          <p:nvPr/>
        </p:nvSpPr>
        <p:spPr>
          <a:xfrm>
            <a:off x="4474464" y="3436620"/>
            <a:ext cx="54864" cy="40233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5" name="Text 85"/>
          <p:cNvSpPr/>
          <p:nvPr/>
        </p:nvSpPr>
        <p:spPr>
          <a:xfrm>
            <a:off x="4584192" y="3464052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ProblemDetails (RFC 7807) — no stack traces in production</a:t>
            </a:r>
            <a:endParaRPr lang="en-US" sz="950" dirty="0"/>
          </a:p>
        </p:txBody>
      </p:sp>
      <p:sp>
        <p:nvSpPr>
          <p:cNvPr id="116" name="Shape 86"/>
          <p:cNvSpPr/>
          <p:nvPr/>
        </p:nvSpPr>
        <p:spPr>
          <a:xfrm>
            <a:off x="4474464" y="3893820"/>
            <a:ext cx="4297680" cy="402336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7" name="Shape 87"/>
          <p:cNvSpPr/>
          <p:nvPr/>
        </p:nvSpPr>
        <p:spPr>
          <a:xfrm>
            <a:off x="4474464" y="3893820"/>
            <a:ext cx="54864" cy="40233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8" name="Text 88"/>
          <p:cNvSpPr/>
          <p:nvPr/>
        </p:nvSpPr>
        <p:spPr>
          <a:xfrm>
            <a:off x="4584192" y="3921252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— DataAnnotations + ModelState check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US10: DOCKER CONTAINERIZATION STRATEGY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40233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— Internal Network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606040" cy="21488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43000"/>
            <a:ext cx="26060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612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Container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HRManagement.API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mcr.microsoft.com/dotnet/aspnet:8.0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:5001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578608"/>
            <a:ext cx="2423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9689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Env vars injected at runtime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(connection strings, JWT keys)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0" y="1143000"/>
            <a:ext cx="2606040" cy="214884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143000"/>
            <a:ext cx="26060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1612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Container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15087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HRManagement.Web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mcr.microsoft.com/dotnet/aspnet:8.0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0" y="22860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:7200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2578608"/>
            <a:ext cx="2423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259689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Env vars injected at runtime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(connection strings, JWT keys)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55080" y="1143000"/>
            <a:ext cx="2606040" cy="2148840"/>
          </a:xfrm>
          <a:prstGeom prst="rect">
            <a:avLst/>
          </a:prstGeom>
          <a:solidFill>
            <a:srgbClr val="FFE4E6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1143000"/>
            <a:ext cx="2606040" cy="3474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1612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Container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46520" y="15087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mcr.microsoft.com/mssql/server:2022-latest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46520" y="22860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:1433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46520" y="2578608"/>
            <a:ext cx="2423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59689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Env vars injected at runtime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(connection strings, JWT keys)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017520" y="2212848"/>
            <a:ext cx="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2212848"/>
            <a:ext cx="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2103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←→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2103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←→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Secrets: Environment variables only — NEVER hardcoded in Docker images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mount on SQL Server container ensures data persistence across restarts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US11: CI/CD PIPELINE &amp; AZURE APP SERVICES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Pipeline (azure-deploy.yml)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1554480" cy="155448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PR → main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1856232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1078992"/>
            <a:ext cx="1554480" cy="155448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1155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1737360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restore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build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--config Release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1856232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078992"/>
            <a:ext cx="1554480" cy="1554480"/>
          </a:xfrm>
          <a:prstGeom prst="rect">
            <a:avLst/>
          </a:prstGeom>
          <a:solidFill>
            <a:srgbClr val="FEF9C3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1155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1737360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test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xUnit tests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= stop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1856232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1078992"/>
            <a:ext cx="1554480" cy="1554480"/>
          </a:xfrm>
          <a:prstGeom prst="rect">
            <a:avLst/>
          </a:prstGeom>
          <a:solidFill>
            <a:srgbClr val="FFE4E6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1155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1737360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publish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 ./publish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Web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40880" y="1856232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1078992"/>
            <a:ext cx="1554480" cy="1554480"/>
          </a:xfrm>
          <a:prstGeom prst="rect">
            <a:avLst/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11155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1737360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Web App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→ Azure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2788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Hosting Architecture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3108960"/>
            <a:ext cx="2011680" cy="1463040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108960"/>
            <a:ext cx="2011680" cy="2926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1089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3429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hosting — API &amp; Web as separate instances. Managed infra, auto-scaling, built-in HTTPS.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68880" y="3108960"/>
            <a:ext cx="2011680" cy="14630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68880" y="3108960"/>
            <a:ext cx="201168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31089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Database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560320" y="3429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SQL Server as a Service. Auto-backups, patching, no DBA overhead.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108960"/>
            <a:ext cx="2011680" cy="1463040"/>
          </a:xfrm>
          <a:prstGeom prst="rect">
            <a:avLst/>
          </a:prstGeom>
          <a:solidFill>
            <a:srgbClr val="FEF9C3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3108960"/>
            <a:ext cx="2011680" cy="29260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1089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3429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signing keys + connection strings stored as secrets. Zero secrets in config files.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0" y="3108960"/>
            <a:ext cx="2011680" cy="14630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0" y="3108960"/>
            <a:ext cx="201168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31089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Insights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49440" y="3429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Telemetry, request tracing, exception monitoring — audit-readiness &amp; observability.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US12: AI-ASSISTED DEVELOPMENT &amp; MCP AGENT ENDPOINT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023360" cy="29260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49808"/>
            <a:ext cx="4023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— AI-Assisted Development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161288"/>
            <a:ext cx="137160" cy="1371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boilerplate repository implementations from interface definitions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618488"/>
            <a:ext cx="137160" cy="1371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727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Auto-completed JWT token generation logic in AuthService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075688"/>
            <a:ext cx="137160" cy="1371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299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DataAnnotation attributes for DTO validation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532888"/>
            <a:ext cx="137160" cy="1371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871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xUnit test method stubs from service method signatures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990088"/>
            <a:ext cx="137160" cy="1371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443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shifted to architecture decisions &amp; business logic correctness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749808"/>
            <a:ext cx="4343400" cy="292608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749808"/>
            <a:ext cx="43434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74980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(MCP) — Leave Request Summarizer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1704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POST /api/agent/summarize-leave-requests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Retrieve pending leave requests via LeaveService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18105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Format data as structured LLM prompt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21579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POST to Claude claude-sonnet-4-20250514 API via HTTP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250545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Return natural-language HR summary: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8529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"8 leave requests pending. 3 from Engineering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spanning &gt; 5 days."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Protected: Admin/Manager + JWT-required (same RBAC)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3767328"/>
            <a:ext cx="868680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80390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Benefit: Copilot accelerates mechanical implementation → developer focuses on architecture. AI Agent enables natural-language HR insights without custom dashboard development.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US13: FINAL WALKTHROUGH CHECKLIST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0624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3200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7724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" y="83210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106984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All — 6 succeeded, 0 failed, 0 skipped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777240"/>
            <a:ext cx="420624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777240"/>
            <a:ext cx="3200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77724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84648" y="83210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84648" y="106984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present in SSMS; test users with Admin/Manager/Employee roles inserted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1581912"/>
            <a:ext cx="420624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581912"/>
            <a:ext cx="3200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581912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" y="1636776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" y="187452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 visible with lock icons; Bearer authentication functional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581912"/>
            <a:ext cx="420624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581912"/>
            <a:ext cx="3200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581912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84648" y="1636776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84648" y="187452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decoded at jwt.io confirms Name, Email, Role claims present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2386584"/>
            <a:ext cx="420624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386584"/>
            <a:ext cx="3200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386584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" y="2441448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2648" y="26791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token → 403 on Admin endpoints; Admin token → 200 confirmed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386584"/>
            <a:ext cx="420624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386584"/>
            <a:ext cx="3200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386584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84648" y="2441448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84648" y="26791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Schemas shows EmployeeRequestDto / EmployeeResponseDto (not raw entities)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3191256"/>
            <a:ext cx="420624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3191256"/>
            <a:ext cx="3200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191256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2648" y="3246120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ProblemDetails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2648" y="3483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ID → application/problem+json response; zero stack traces in response body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3191256"/>
            <a:ext cx="420624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3191256"/>
            <a:ext cx="3200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191256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184648" y="3246120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84648" y="348386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X-Frame-Options: DENY + X-Content-Type-Options: nosniff visible in DevTools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" y="3995928"/>
            <a:ext cx="420624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3995928"/>
            <a:ext cx="3200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3995928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2648" y="4050792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12648" y="4288536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CRUD functional via web UI at localhost:7200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0600" y="3995928"/>
            <a:ext cx="420624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0600" y="3995928"/>
            <a:ext cx="32004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995928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184648" y="4050792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184648" y="4288536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passing in Visual Studio Test Explorer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Management Platform — Production-Ready Enterprise Application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256032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682496"/>
            <a:ext cx="7955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role-gated REST API with JWT authentication — verified in Swagger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56032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2075688"/>
            <a:ext cx="7955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6-project architecture — SOLID principles + Clean Architecture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256032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505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468880"/>
            <a:ext cx="7955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EF Core &amp; ADO.NET data access within the same solution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256032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437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2862072"/>
            <a:ext cx="7955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ASP.NET Core MVC app with Razor Pages &amp; AJAX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236976"/>
            <a:ext cx="256032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369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3255264"/>
            <a:ext cx="7955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secure coding: CORS, HSTS, security headers, ProblemDetails (RFC 7807)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630168"/>
            <a:ext cx="256032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0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" y="3648456"/>
            <a:ext cx="7955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cloud strategy: Docker + GitHub Actions + Azure App Services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56032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4041648"/>
            <a:ext cx="7955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modernization path: GitHub Copilot + MCP Agent for HR insights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0" y="468172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 |  Extensible  |  Production Engineering Standards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1944</Words>
  <Application>Microsoft Office PowerPoint</Application>
  <PresentationFormat>On-screen Show (16:9)</PresentationFormat>
  <Paragraphs>344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Management Platform</dc:title>
  <dc:subject>PptxGenJS Presentation</dc:subject>
  <dc:creator>PptxGenJS</dc:creator>
  <cp:lastModifiedBy>Sundaravela .A</cp:lastModifiedBy>
  <cp:revision>5</cp:revision>
  <dcterms:created xsi:type="dcterms:W3CDTF">2026-06-06T06:34:55Z</dcterms:created>
  <dcterms:modified xsi:type="dcterms:W3CDTF">2026-06-06T08:12:57Z</dcterms:modified>
</cp:coreProperties>
</file>